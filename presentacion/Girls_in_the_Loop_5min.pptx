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15e0b5af-5444-26bc-2d14-9549b14eb5d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FIRDAOUS · 0:00 – 0:20 (20 s)
QUÉ SE PROYECTA: Diapositiva 1: portada con el logo. Las tres en cámara si es posible.
GUION:
Hola, somos Nouhaila, Paula y Firdaous, el equipo 5. Nuestro proyecto se llama Girls in the Loop y responde a una pregunta muy concreta: en una rueda de prensa del Consejo de Ministros, ¿quién ocupa la pantalla y quién tiene la palabra?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FIRDAOUS · 0:20 – 0:55 (35 s)
QUÉ SE PROYECTA: Diapositiva 2: las seis métricas y la fórmula de paridad.
GUION:
Contar cuántas mujeres aparecen no basta: una persona puede estar en el atril y apenas hablar. Por eso proponemos seis métricas de protagonismo: tiempo en pantalla, tiempo de voz, número y duración de las intervenciones, quién abre y quién cierra, y el reparto entre la exposición y las preguntas. Y las resumimos en un índice de paridad: el porcentaje que obtiene cada grupo dividido entre el porcentaje de personas que representa. Uno significa proporcional.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NOUHAILA · 0:55 – 1:35 (40 s)
QUÉ SE PROYECTA: Diapositiva 3: los tres pasos (cortes, personas, tipo de plano).
GUION:
Yo me encargué de que el sistema sepa ver el vídeo. Primero lo dividimos en planos con PySceneDetect, distinguiendo un corte real de un flash de cámara o un fundido a negro. Después, dentro de cada plano, YOLO detecta a las personas y ByteTrack las sigue. Un detalle importante: el seguimiento se reinicia en cada corte, para que una persona nunca salte de una toma a otra. Con eso clasificamos cada plano: primer plano de quien habla, plano de la sala de prensa o plano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PAULA · 1:35 – 2:20 (45 s)
QUÉ SE PROYECTA: Diapositiva 4: motor de visión y «No adivinamos el género».
GUION:
Yo integré todo en un motor de visión fiable. Lee los rótulos en pantalla, comprueba el tiempo real de cada fotograma y guarda la huella del vídeo y del código, así que cualquiera puede reproducir nuestros resultados. Y aquí tomamos la decisión más importante del proyecto. Al principio probé a estimar el género a partir de la cara con DeepFace, y lo descartamos: es poco fiable y éticamente problemático. Ahora el género sale del cargo oficial publicado, «Ministra» o «Ministro». Si la fuente no lo documenta, queda como no documentado.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FIRDAOUS · 2:20 – 2:55 (35 s)
QUÉ SE PROYECTA: Diapositiva 5: los cuatro pasos de la voz y las cifras 100 % y 0.
GUION:
Yo me ocupé de la voz y de las métricas. Whisper transcribe el audio con el tiempo exacto de cada palabra, y cada palabra se atribuye a quien está en primer plano. Para saber quién es quién sin revisar nada a mano, el sistema lee la página de La Moncloa, que dice quién interviene y desde qué segundo. Lo comparamos con nuestra revisión manual y acertó el cien por cien de los primeros planos.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FIRDAOUS · 2:55 – 3:40 (45 s)
QUÉ SE PROYECTA: Grabación de pantalla de la interfaz (http://localhost:8599): 1) pestaña Análisis de vídeo, pegar un enlace de La Moncloa y pulsar Analizar; 2) pestaña Resumen con el 13/10: tarjetas y presencia en pantalla; 3) Flujo del protagonismo: pulsar «Tiempo de voz»; 4) Transcripción: buscar una palabra; 5) pestaña Comparativas. Si no se graba la pantalla, se proyecta la diapositiva 6.
GUION:
Os lo enseñamos. Basta con pegar el enlace de una rueda de prensa de La Moncloa y pulsar Analizar. El sistema descarga el vídeo, lo pone en cola y, al terminar, aparece aquí: los indicadores de pantalla, voz y paridad; quién ocupa cada plano minuto a minuto; el flujo del protagonismo, de cada género a cada persona; y la transcripción completa, que se puede filtrar o buscar. Todos los datos se pueden descargar, y en Comparativas se ven todas las ruedas analizadas.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NOUHAILA · 3:40 – 4:15 (35 s)
QUÉ SE PROYECTA: Diapositiva 7: resultados del 13/10 y del 27/10.
GUION:
¿Y qué encontramos? En la rueda de prensa del 13 de octubre comparecen dos mujeres y un hombre. Las mujeres son el 67 por ciento de las personas, pero tienen el 77 por ciento de la voz: una paridad de 1,15, más protagonismo del que les correspondería por número. El 27 de octubre comparecen tres ministras, y la voz no se reparte por igual: Isabel Rodríguez tiene el 38 por ciento. Son dos sesiones: describen esas ruedas de prensa, no una tendencia.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PAULA · 4:15 – 4:45 (30 s)
QUÉ SE PROYECTA: Diapositiva 8: despliegue, permisos y riesgos.
GUION:
Para llevarlo a producción lo desplegaríamos en OVHcloud con GPU, para analizar cada semana las ruedas nuevas y publicarlas en un panel abierto. Haría falta un acuerdo con La Moncloa para la descarga automática, una evaluación de impacto en protección de datos y un aviso de transparencia. Todo el código es abierto, con licencia AGPL.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NOUHAILA (Y AL FINAL, LAS TRES) · 4:45 – 5:00 (15 s)
QUÉ SE PROYECTA: Diapositiva 9: cierre. Las tres en cámara para despedirse.
GUION:
Nuestro siguiente paso es saber quién habla también en el turno de preguntas y ampliar a otras fuentes, como el Congreso o RTVE. Las tres: ¡Gracias!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241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766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67665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E3D9F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4163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A3"/>
                </a:solidFill>
              </a:rPr>
              <a:t>Girls in the Loop · Equipo 5 · Reto Mujeres por la IA Abierta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irls_in_the_loop.png" descr="Logo Girls in the Lo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434" y="731520"/>
            <a:ext cx="3473532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¿Quién ocupa la pantalla y quién tiene la palabra?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7490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3D9F5"/>
                </a:solidFill>
              </a:rPr>
              <a:t>Equipo 5: Nouhaila, Paula y Firdaous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D9F5"/>
                </a:solidFill>
              </a:rPr>
              <a:t>Reto Mujeres por la IA Abierta</a:t>
            </a:r>
            <a:endParaRPr lang="en-US" sz="1800" dirty="0"/>
          </a:p>
        </p:txBody>
      </p:sp>
      <p:pic>
        <p:nvPicPr>
          <p:cNvPr id="5" name="grande_1.png" descr="Avatar ilustr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77670"/>
            <a:ext cx="3840480" cy="39940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Medimos protagonismo, no solo presencia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8511" y="395021"/>
            <a:ext cx="682898" cy="764438"/>
          </a:xfrm>
          <a:prstGeom prst="rect">
            <a:avLst/>
          </a:prstGeom>
        </p:spPr>
      </p:pic>
      <p:sp>
        <p:nvSpPr>
          <p:cNvPr id="5" name="tarjeta Tiempo en pantalla"/>
          <p:cNvSpPr/>
          <p:nvPr/>
        </p:nvSpPr>
        <p:spPr>
          <a:xfrm>
            <a:off x="548640" y="1554480"/>
            <a:ext cx="3474720" cy="1143000"/>
          </a:xfrm>
          <a:prstGeom prst="roundRect">
            <a:avLst>
              <a:gd name="adj" fmla="val 112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777240" y="175564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pantalla</a:t>
            </a:r>
            <a:endParaRPr lang="en-US" sz="1700" dirty="0"/>
          </a:p>
        </p:txBody>
      </p:sp>
      <p:sp>
        <p:nvSpPr>
          <p:cNvPr id="9" name="tarjeta Tiempo de voz"/>
          <p:cNvSpPr/>
          <p:nvPr/>
        </p:nvSpPr>
        <p:spPr>
          <a:xfrm>
            <a:off x="4297680" y="1554480"/>
            <a:ext cx="3474720" cy="1143000"/>
          </a:xfrm>
          <a:prstGeom prst="roundRect">
            <a:avLst>
              <a:gd name="adj" fmla="val 112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0" name="número"/>
          <p:cNvSpPr/>
          <p:nvPr/>
        </p:nvSpPr>
        <p:spPr>
          <a:xfrm>
            <a:off x="4526280" y="175564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voz</a:t>
            </a:r>
            <a:endParaRPr lang="en-US" sz="1700" dirty="0"/>
          </a:p>
        </p:txBody>
      </p:sp>
      <p:sp>
        <p:nvSpPr>
          <p:cNvPr id="13" name="tarjeta Intervenciones"/>
          <p:cNvSpPr/>
          <p:nvPr/>
        </p:nvSpPr>
        <p:spPr>
          <a:xfrm>
            <a:off x="8046720" y="1554480"/>
            <a:ext cx="3474720" cy="1143000"/>
          </a:xfrm>
          <a:prstGeom prst="roundRect">
            <a:avLst>
              <a:gd name="adj" fmla="val 112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8275320" y="175564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Intervenciones</a:t>
            </a:r>
            <a:endParaRPr lang="en-US" sz="1700" dirty="0"/>
          </a:p>
        </p:txBody>
      </p:sp>
      <p:sp>
        <p:nvSpPr>
          <p:cNvPr id="17" name="tarjeta Abre y cierra"/>
          <p:cNvSpPr/>
          <p:nvPr/>
        </p:nvSpPr>
        <p:spPr>
          <a:xfrm>
            <a:off x="548640" y="2971800"/>
            <a:ext cx="3474720" cy="1143000"/>
          </a:xfrm>
          <a:prstGeom prst="roundRect">
            <a:avLst>
              <a:gd name="adj" fmla="val 112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777240" y="317296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136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y cierra</a:t>
            </a:r>
            <a:endParaRPr lang="en-US" sz="1700" dirty="0"/>
          </a:p>
        </p:txBody>
      </p:sp>
      <p:sp>
        <p:nvSpPr>
          <p:cNvPr id="21" name="tarjeta Exposición y preguntas"/>
          <p:cNvSpPr/>
          <p:nvPr/>
        </p:nvSpPr>
        <p:spPr>
          <a:xfrm>
            <a:off x="4297680" y="2971800"/>
            <a:ext cx="3474720" cy="1143000"/>
          </a:xfrm>
          <a:prstGeom prst="roundRect">
            <a:avLst>
              <a:gd name="adj" fmla="val 112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22" name="número"/>
          <p:cNvSpPr/>
          <p:nvPr/>
        </p:nvSpPr>
        <p:spPr>
          <a:xfrm>
            <a:off x="4526280" y="317296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262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0" y="3136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y preguntas</a:t>
            </a:r>
            <a:endParaRPr lang="en-US" sz="1700" dirty="0"/>
          </a:p>
        </p:txBody>
      </p:sp>
      <p:sp>
        <p:nvSpPr>
          <p:cNvPr id="25" name="tarjeta Índice de paridad"/>
          <p:cNvSpPr/>
          <p:nvPr/>
        </p:nvSpPr>
        <p:spPr>
          <a:xfrm>
            <a:off x="8046720" y="2971800"/>
            <a:ext cx="3474720" cy="1143000"/>
          </a:xfrm>
          <a:prstGeom prst="roundRect">
            <a:avLst>
              <a:gd name="adj" fmla="val 112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26" name="número"/>
          <p:cNvSpPr/>
          <p:nvPr/>
        </p:nvSpPr>
        <p:spPr>
          <a:xfrm>
            <a:off x="8275320" y="317296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7532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778240" y="3136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paridad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 = % obtenido ÷ % de personas · 1 = proporcional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ruedas de prensa del Consejo de Ministros publicadas por La Moncloa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Ver el vídeo: planos y personas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1258" y="395021"/>
            <a:ext cx="557403" cy="764438"/>
          </a:xfrm>
          <a:prstGeom prst="rect">
            <a:avLst/>
          </a:prstGeom>
        </p:spPr>
      </p:pic>
      <p:sp>
        <p:nvSpPr>
          <p:cNvPr id="5" name="tarjeta Cortes de plano"/>
          <p:cNvSpPr/>
          <p:nvPr/>
        </p:nvSpPr>
        <p:spPr>
          <a:xfrm>
            <a:off x="548640" y="1645920"/>
            <a:ext cx="3291840" cy="2377440"/>
          </a:xfrm>
          <a:prstGeom prst="roundRect">
            <a:avLst>
              <a:gd name="adj" fmla="val 5385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777240" y="184708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810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de plano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cada toma; distingue un corte de un flash o un fundido.</a:t>
            </a:r>
            <a:endParaRPr lang="en-US" sz="1500" dirty="0"/>
          </a:p>
        </p:txBody>
      </p:sp>
      <p:sp>
        <p:nvSpPr>
          <p:cNvPr id="10" name="flecha"/>
          <p:cNvSpPr/>
          <p:nvPr/>
        </p:nvSpPr>
        <p:spPr>
          <a:xfrm>
            <a:off x="3904488" y="2697480"/>
            <a:ext cx="320040" cy="292608"/>
          </a:xfrm>
          <a:prstGeom prst="rightArrow">
            <a:avLst/>
          </a:prstGeom>
          <a:solidFill>
            <a:srgbClr val="E3D9F5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1" name="tarjeta Personas"/>
          <p:cNvSpPr/>
          <p:nvPr/>
        </p:nvSpPr>
        <p:spPr>
          <a:xfrm>
            <a:off x="4297680" y="1645920"/>
            <a:ext cx="3291840" cy="2377440"/>
          </a:xfrm>
          <a:prstGeom prst="roundRect">
            <a:avLst>
              <a:gd name="adj" fmla="val 5385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4526280" y="184708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1810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37744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 detecta a cada persona y ByteTrack la sigue dentro del plano.</a:t>
            </a:r>
            <a:endParaRPr lang="en-US" sz="1500" dirty="0"/>
          </a:p>
        </p:txBody>
      </p:sp>
      <p:sp>
        <p:nvSpPr>
          <p:cNvPr id="16" name="flecha"/>
          <p:cNvSpPr/>
          <p:nvPr/>
        </p:nvSpPr>
        <p:spPr>
          <a:xfrm>
            <a:off x="7653528" y="2697480"/>
            <a:ext cx="320040" cy="292608"/>
          </a:xfrm>
          <a:prstGeom prst="rightArrow">
            <a:avLst/>
          </a:prstGeom>
          <a:solidFill>
            <a:srgbClr val="E3D9F5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7" name="tarjeta Tipo de plano"/>
          <p:cNvSpPr/>
          <p:nvPr/>
        </p:nvSpPr>
        <p:spPr>
          <a:xfrm>
            <a:off x="8046720" y="1645920"/>
            <a:ext cx="3291840" cy="2377440"/>
          </a:xfrm>
          <a:prstGeom prst="roundRect">
            <a:avLst>
              <a:gd name="adj" fmla="val 5385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8275320" y="184708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1810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plano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237744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plano (habla alguien), sala de prensa o plano general.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480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se reinicia en cada corte: una persona nunca «salta» de una toma a otra.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Un motor fiable y una decisión ética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7741" y="428465"/>
            <a:ext cx="764438" cy="697550"/>
          </a:xfrm>
          <a:prstGeom prst="rect">
            <a:avLst/>
          </a:prstGeom>
        </p:spPr>
      </p:pic>
      <p:sp>
        <p:nvSpPr>
          <p:cNvPr id="5" name="tarjeta Motor de visión"/>
          <p:cNvSpPr/>
          <p:nvPr/>
        </p:nvSpPr>
        <p:spPr>
          <a:xfrm>
            <a:off x="548640" y="150876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visión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67128"/>
            <a:ext cx="4937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Lee los rótulos en pantalla con EasyOCR.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 el tiempo real de cada fotograma.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Guarda la huella del vídeo y del código: resultados reproducibles.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se corta, continúa donde iba.</a:t>
            </a:r>
            <a:endParaRPr lang="en-US" sz="1800" dirty="0"/>
          </a:p>
        </p:txBody>
      </p:sp>
      <p:sp>
        <p:nvSpPr>
          <p:cNvPr id="8" name="tarjeta No adivinamos el género"/>
          <p:cNvSpPr/>
          <p:nvPr/>
        </p:nvSpPr>
        <p:spPr>
          <a:xfrm>
            <a:off x="6217920" y="150876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F3EEFC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adivinamos el género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167128"/>
            <a:ext cx="4937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Probamos estimarlo con DeepFace y lo descartamos: poco fiable y problemático.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género sale del cargo oficial publicado: «Ministra» o «Ministro».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la fuente no lo dice, queda «no documentado».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La voz y un sistema que funciona solo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3999" y="395021"/>
            <a:ext cx="531922" cy="764438"/>
          </a:xfrm>
          <a:prstGeom prst="rect">
            <a:avLst/>
          </a:prstGeom>
        </p:spPr>
      </p:pic>
      <p:sp>
        <p:nvSpPr>
          <p:cNvPr id="5" name="tarjeta Whisper transcribe con el tiempo de cada palabra"/>
          <p:cNvSpPr/>
          <p:nvPr/>
        </p:nvSpPr>
        <p:spPr>
          <a:xfrm>
            <a:off x="548640" y="1508760"/>
            <a:ext cx="6400800" cy="932688"/>
          </a:xfrm>
          <a:prstGeom prst="roundRect">
            <a:avLst>
              <a:gd name="adj" fmla="val 13725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777240" y="170992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733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transcribe con el tiempo de cada palabra</a:t>
            </a:r>
            <a:endParaRPr lang="en-US" sz="1600" dirty="0"/>
          </a:p>
        </p:txBody>
      </p:sp>
      <p:sp>
        <p:nvSpPr>
          <p:cNvPr id="9" name="tarjeta Cada palabra va a quien está en primer plano"/>
          <p:cNvSpPr/>
          <p:nvPr/>
        </p:nvSpPr>
        <p:spPr>
          <a:xfrm>
            <a:off x="548640" y="2606040"/>
            <a:ext cx="6400800" cy="932688"/>
          </a:xfrm>
          <a:prstGeom prst="roundRect">
            <a:avLst>
              <a:gd name="adj" fmla="val 13725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0" name="número"/>
          <p:cNvSpPr/>
          <p:nvPr/>
        </p:nvSpPr>
        <p:spPr>
          <a:xfrm>
            <a:off x="777240" y="280720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7706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palabra va a quien está en primer plano</a:t>
            </a:r>
            <a:endParaRPr lang="en-US" sz="1600" dirty="0"/>
          </a:p>
        </p:txBody>
      </p:sp>
      <p:sp>
        <p:nvSpPr>
          <p:cNvPr id="13" name="tarjeta La página de La Moncloa dice quién habla y desde cuándo"/>
          <p:cNvSpPr/>
          <p:nvPr/>
        </p:nvSpPr>
        <p:spPr>
          <a:xfrm>
            <a:off x="548640" y="3703320"/>
            <a:ext cx="6400800" cy="932688"/>
          </a:xfrm>
          <a:prstGeom prst="roundRect">
            <a:avLst>
              <a:gd name="adj" fmla="val 13725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777240" y="390448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8679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de La Moncloa dice quién habla y desde cuándo</a:t>
            </a:r>
            <a:endParaRPr lang="en-US" sz="1600" dirty="0"/>
          </a:p>
        </p:txBody>
      </p:sp>
      <p:sp>
        <p:nvSpPr>
          <p:cNvPr id="17" name="tarjeta El resto, por parecido dentro del mismo vídeo"/>
          <p:cNvSpPr/>
          <p:nvPr/>
        </p:nvSpPr>
        <p:spPr>
          <a:xfrm>
            <a:off x="548640" y="4800600"/>
            <a:ext cx="6400800" cy="932688"/>
          </a:xfrm>
          <a:prstGeom prst="roundRect">
            <a:avLst>
              <a:gd name="adj" fmla="val 13725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777240" y="500176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49651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resto, por parecido dentro del mismo vídeo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16459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25603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primeros planos bien asignados frente a la revisión manual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589520" y="36576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24" name="Text 21"/>
          <p:cNvSpPr txBox="1"/>
          <p:nvPr/>
        </p:nvSpPr>
        <p:spPr>
          <a:xfrm>
            <a:off x="7589520" y="4572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manuales para analizar una rueda nueva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Demo</a:t>
            </a:r>
            <a:endParaRPr lang="en-US" sz="3200" dirty="0"/>
          </a:p>
        </p:txBody>
      </p:sp>
      <p:pic>
        <p:nvPicPr>
          <p:cNvPr id="3" name="vídeo dem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72768" y="1234440"/>
            <a:ext cx="9052560" cy="50920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Resultados</a:t>
            </a:r>
            <a:endParaRPr lang="en-US" sz="3200" dirty="0"/>
          </a:p>
        </p:txBody>
      </p:sp>
      <p:sp>
        <p:nvSpPr>
          <p:cNvPr id="3" name="tarjeta 13/10 · 2 mujeres y 1 hombre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13/10 · 2 mujeres y 1 hombre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voz, para las mujeres (son el 67 %)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194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 de voz de las mujeres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protagonismo del que les correspondería por número. Elma Saiz abre y cierra; Sira Rego es quien más habla.</a:t>
            </a:r>
            <a:endParaRPr lang="en-US" sz="1500" dirty="0"/>
          </a:p>
        </p:txBody>
      </p:sp>
      <p:sp>
        <p:nvSpPr>
          <p:cNvPr id="10" name="tarjeta 27/10 · 3 ministras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27/10 · 3 ministras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194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38 %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voz, Isabel Rodríguez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2194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27 %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Milagros Tolón y Elma Saiz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1148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solo mujeres la paridad es 1 por definición: lo que importa es el reparto entre personas.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De prototipo a servicio público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9333" y="395021"/>
            <a:ext cx="761253" cy="764438"/>
          </a:xfrm>
          <a:prstGeom prst="rect">
            <a:avLst/>
          </a:prstGeom>
        </p:spPr>
      </p:pic>
      <p:sp>
        <p:nvSpPr>
          <p:cNvPr id="5" name="tarjeta Despliegue"/>
          <p:cNvSpPr/>
          <p:nvPr/>
        </p:nvSpPr>
        <p:spPr>
          <a:xfrm>
            <a:off x="548640" y="1645920"/>
            <a:ext cx="3474720" cy="2743200"/>
          </a:xfrm>
          <a:prstGeom prst="roundRect">
            <a:avLst>
              <a:gd name="adj" fmla="val 4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777240" y="184708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OVHcloud AI Deploy con GPU; análisis semanal automático y panel público.</a:t>
            </a:r>
            <a:endParaRPr lang="en-US" sz="1700" dirty="0"/>
          </a:p>
        </p:txBody>
      </p:sp>
      <p:sp>
        <p:nvSpPr>
          <p:cNvPr id="10" name="tarjeta Permisos"/>
          <p:cNvSpPr/>
          <p:nvPr/>
        </p:nvSpPr>
        <p:spPr>
          <a:xfrm>
            <a:off x="4297680" y="1645920"/>
            <a:ext cx="3474720" cy="2743200"/>
          </a:xfrm>
          <a:prstGeom prst="roundRect">
            <a:avLst>
              <a:gd name="adj" fmla="val 4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4526280" y="184708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37744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con La Moncloa para la descarga, evaluación de impacto en datos y aviso de transparencia.</a:t>
            </a:r>
            <a:endParaRPr lang="en-US" sz="1700" dirty="0"/>
          </a:p>
        </p:txBody>
      </p:sp>
      <p:sp>
        <p:nvSpPr>
          <p:cNvPr id="15" name="tarjeta Riesgos"/>
          <p:cNvSpPr/>
          <p:nvPr/>
        </p:nvSpPr>
        <p:spPr>
          <a:xfrm>
            <a:off x="8046720" y="1645920"/>
            <a:ext cx="3474720" cy="2743200"/>
          </a:xfrm>
          <a:prstGeom prst="roundRect">
            <a:avLst>
              <a:gd name="adj" fmla="val 4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6" name="número"/>
          <p:cNvSpPr/>
          <p:nvPr/>
        </p:nvSpPr>
        <p:spPr>
          <a:xfrm>
            <a:off x="8275320" y="184708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77824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237744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mal atribuida, cambios en la web, coste de GPU: cada uno con su mitigación.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abierto AGPL-3.0 · reproducible · cumple RGPD y Reglamento de 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Gracias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3D9F5"/>
                </a:solidFill>
              </a:rPr>
              <a:t>Siguiente paso: diarización para el turno de preguntas y más fuentes (Congreso, Senado, RTVE).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D9F5"/>
                </a:solidFill>
              </a:rPr>
              <a:t>Nouhaila · Paula · Firdaous</a:t>
            </a:r>
            <a:endParaRPr lang="en-US" sz="1800" dirty="0"/>
          </a:p>
        </p:txBody>
      </p:sp>
      <p:pic>
        <p:nvPicPr>
          <p:cNvPr id="4" name="grande_3.png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591408"/>
            <a:ext cx="3840480" cy="3766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rls in the Loop">
  <a:themeElements>
    <a:clrScheme name="Girls in the Loop">
      <a:dk1>
        <a:srgbClr val="24163F"/>
      </a:dk1>
      <a:lt1>
        <a:srgbClr val="FFFFFF"/>
      </a:lt1>
      <a:dk2>
        <a:srgbClr val="4C1D95"/>
      </a:dk2>
      <a:lt2>
        <a:srgbClr val="F3EEFC"/>
      </a:lt2>
      <a:accent1>
        <a:srgbClr val="6D28D9"/>
      </a:accent1>
      <a:accent2>
        <a:srgbClr val="E0457B"/>
      </a:accent2>
      <a:accent3>
        <a:srgbClr val="0E8F86"/>
      </a:accent3>
      <a:accent4>
        <a:srgbClr val="C27C0E"/>
      </a:accent4>
      <a:accent5>
        <a:srgbClr val="3B6FE0"/>
      </a:accent5>
      <a:accent6>
        <a:srgbClr val="A3367A"/>
      </a:accent6>
      <a:hlink>
        <a:srgbClr val="6D28D9"/>
      </a:hlink>
      <a:folHlink>
        <a:srgbClr val="A3367A"/>
      </a:folHlink>
    </a:clrScheme>
    <a:fontScheme name="Girls in the Loo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Reto Mujeres por la IA Abierta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Girls in the Loop · Presentación de 5 minutos</dc:title>
  <dc:subject>PptxGenJS Presentation</dc:subject>
  <dc:creator>Equipo 5: Nouhaila, Paula y Firdaous</dc:creator>
  <cp:lastModifiedBy>Equipo 5: Nouhaila, Paula y Firdaous</cp:lastModifiedBy>
  <cp:revision>1</cp:revision>
  <dcterms:created xsi:type="dcterms:W3CDTF">2026-10-29T14:50:02Z</dcterms:created>
  <dcterms:modified xsi:type="dcterms:W3CDTF">2026-10-29T14:50:02Z</dcterms:modified>
</cp:coreProperties>
</file>