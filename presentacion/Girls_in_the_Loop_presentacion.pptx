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fd780c1-4bdd-ce34-929a-d6d72e5086ad}">
          <p14:sldIdLst>
            <p14:sldId id="256"/>
            <p14:sldId id="257"/>
          </p14:sldIdLst>
        </p14:section>
        <p14:section name="Propuesta" id="{ebe7cf81-cc44-cbba-b9ad-b1a2d2537e35}">
          <p14:sldIdLst>
            <p14:sldId id="258"/>
            <p14:sldId id="259"/>
          </p14:sldIdLst>
        </p14:section>
        <p14:section name="Aproximación" id="{1f929a37-0d21-0b60-d2ed-d8b9b8c1a392}">
          <p14:sldIdLst>
            <p14:sldId id="260"/>
            <p14:sldId id="261"/>
            <p14:sldId id="262"/>
            <p14:sldId id="263"/>
          </p14:sldIdLst>
        </p14:section>
        <p14:section name="Resultados" id="{defc8a1c-60b4-fdc5-7785-71f5b38657f9}">
          <p14:sldIdLst>
            <p14:sldId id="264"/>
            <p14:sldId id="265"/>
          </p14:sldIdLst>
        </p14:section>
        <p14:section name="Demo" id="{f2376841-7942-e388-11cd-a87e96f308df}">
          <p14:sldIdLst>
            <p14:sldId id="266"/>
            <p14:sldId id="267"/>
          </p14:sldIdLst>
        </p14:section>
        <p14:section name="Perspectiva y ética" id="{d2967829-3f4f-d506-8740-61ae28e23ba8}">
          <p14:sldIdLst>
            <p14:sldId id="268"/>
            <p14:sldId id="269"/>
            <p14:sldId id="270"/>
          </p14:sldIdLst>
        </p14:section>
        <p14:section name="Producción" id="{e541407f-2e68-ecef-c587-6ca325df28c6}">
          <p14:sldIdLst>
            <p14:sldId id="271"/>
            <p14:sldId id="272"/>
            <p14:sldId id="273"/>
          </p14:sldIdLst>
        </p14:section>
        <p14:section name="Cierre" id="{29ac3d9b-1b64-2d87-1936-c4e7bc90b9a0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1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% de personas</c:v>
                  </c:pt>
                  <c:pt idx="1">
                    <c:v>% de pantalla</c:v>
                  </c:pt>
                  <c:pt idx="2">
                    <c:v>% de voz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66.7</c:v>
                </c:pt>
                <c:pt idx="1">
                  <c:v>77.1</c:v>
                </c:pt>
                <c:pt idx="2">
                  <c:v>76.7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0E8F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1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% de personas</c:v>
                  </c:pt>
                  <c:pt idx="1">
                    <c:v>% de pantalla</c:v>
                  </c:pt>
                  <c:pt idx="2">
                    <c:v>% de voz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33.3</c:v>
                </c:pt>
                <c:pt idx="1">
                  <c:v>22.9</c:v>
                </c:pt>
                <c:pt idx="2">
                  <c:v>23.3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416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4D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EE8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4D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5B4D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 voz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&quot; 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1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45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C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DC6D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Isabel Rodríguez</c:v>
                  </c:pt>
                  <c:pt idx="1">
                    <c:v>Milagros Tolón</c:v>
                  </c:pt>
                  <c:pt idx="2">
                    <c:v>Elma Saiz</c:v>
                  </c:pt>
                  <c:pt idx="3">
                    <c:v>Sin atribuir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38.2</c:v>
                </c:pt>
                <c:pt idx="1">
                  <c:v>27</c:v>
                </c:pt>
                <c:pt idx="2">
                  <c:v>26.8</c:v>
                </c:pt>
                <c:pt idx="3">
                  <c:v>8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416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4D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9525" cap="flat">
              <a:solidFill>
                <a:srgbClr val="EEE8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4D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24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3D9F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4163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A3"/>
                </a:solidFill>
              </a:rPr>
              <a:t>Girls in the Loop · Equipo 5 · Reto Mujeres por la IA Abierta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irls_in_the_loop.png" descr="Logo Girls in the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434" y="731520"/>
            <a:ext cx="3473532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¿Quién ocupa la pantalla y quién tiene la palabra?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Protagonismo por género en las ruedas de prensa del Consejo de Ministros, con IA abierta.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D9F5"/>
                </a:solidFill>
              </a:rPr>
              <a:t>Equipo 5: Nouhaila, Paula y Firdaous</a:t>
            </a:r>
            <a:endParaRPr lang="en-US" sz="1800" dirty="0"/>
          </a:p>
        </p:txBody>
      </p:sp>
      <p:pic>
        <p:nvPicPr>
          <p:cNvPr id="5" name="grande_1.png" descr="Avatar ilustr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77670"/>
            <a:ext cx="3840480" cy="3994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Medir protagonismo, no solo presencia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8511" y="395021"/>
            <a:ext cx="682898" cy="7644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estar: aparecer en pantalla, figurar entre quienes comparecen.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Protagonismo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tener la palabra: cuánto se habla, quién abre y quién cierra, cuánto dura cada intervención.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pregunta: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rueda de prensa del Consejo de Ministros, ¿el protagonismo de mujeres y hombres es proporcional a cuántos comparecen?</a:t>
            </a:r>
            <a:endParaRPr lang="en-US" sz="1800" dirty="0"/>
          </a:p>
        </p:txBody>
      </p:sp>
      <p:sp>
        <p:nvSpPr>
          <p:cNvPr id="6" name="tarjeta Por qué ruedas de prensa"/>
          <p:cNvSpPr/>
          <p:nvPr/>
        </p:nvSpPr>
        <p:spPr>
          <a:xfrm>
            <a:off x="7040880" y="1554480"/>
            <a:ext cx="457200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ruedas de prensa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212848"/>
            <a:ext cx="4114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comparecencias públicas de cargos públicos, con vídeo oficial y fuente que documenta quién habla.</a:t>
            </a:r>
            <a:endParaRPr lang="en-US" sz="1400" dirty="0"/>
          </a:p>
        </p:txBody>
      </p:sp>
      <p:sp>
        <p:nvSpPr>
          <p:cNvPr id="9" name="tarjeta Qué entregamos"/>
          <p:cNvSpPr/>
          <p:nvPr/>
        </p:nvSpPr>
        <p:spPr>
          <a:xfrm>
            <a:off x="7040880" y="3749040"/>
            <a:ext cx="457200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entregamos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4407408"/>
            <a:ext cx="4114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abierto que analiza cada rueda de prensa solo y publica métricas explicables.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Propuesta de métricas de presencia y protagonismo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6036" y="395021"/>
            <a:ext cx="547848" cy="764438"/>
          </a:xfrm>
          <a:prstGeom prst="rect">
            <a:avLst/>
          </a:prstGeom>
        </p:spPr>
      </p:pic>
      <p:sp>
        <p:nvSpPr>
          <p:cNvPr id="5" name="tarjeta Tiempo en pantalla"/>
          <p:cNvSpPr/>
          <p:nvPr/>
        </p:nvSpPr>
        <p:spPr>
          <a:xfrm>
            <a:off x="54864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pantalla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en primer plano de cada persona.</a:t>
            </a:r>
            <a:endParaRPr lang="en-US" sz="1600" dirty="0"/>
          </a:p>
        </p:txBody>
      </p:sp>
      <p:sp>
        <p:nvSpPr>
          <p:cNvPr id="10" name="tarjeta Tiempo de voz"/>
          <p:cNvSpPr/>
          <p:nvPr/>
        </p:nvSpPr>
        <p:spPr>
          <a:xfrm>
            <a:off x="429768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452628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voz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 las palabras que dice cada persona.</a:t>
            </a:r>
            <a:endParaRPr lang="en-US" sz="1600" dirty="0"/>
          </a:p>
        </p:txBody>
      </p:sp>
      <p:sp>
        <p:nvSpPr>
          <p:cNvPr id="15" name="tarjeta Intervenciones"/>
          <p:cNvSpPr/>
          <p:nvPr/>
        </p:nvSpPr>
        <p:spPr>
          <a:xfrm>
            <a:off x="804672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6" name="número"/>
          <p:cNvSpPr/>
          <p:nvPr/>
        </p:nvSpPr>
        <p:spPr>
          <a:xfrm>
            <a:off x="827532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turnos y duración media de cada uno.</a:t>
            </a:r>
            <a:endParaRPr lang="en-US" sz="1600" dirty="0"/>
          </a:p>
        </p:txBody>
      </p:sp>
      <p:sp>
        <p:nvSpPr>
          <p:cNvPr id="20" name="tarjeta Abre y cierra"/>
          <p:cNvSpPr/>
          <p:nvPr/>
        </p:nvSpPr>
        <p:spPr>
          <a:xfrm>
            <a:off x="54864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77724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y cierra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habla primero y quién tiene la última palabra.</a:t>
            </a:r>
            <a:endParaRPr lang="en-US" sz="1600" dirty="0"/>
          </a:p>
        </p:txBody>
      </p:sp>
      <p:sp>
        <p:nvSpPr>
          <p:cNvPr id="25" name="tarjeta Exposición y preguntas"/>
          <p:cNvSpPr/>
          <p:nvPr/>
        </p:nvSpPr>
        <p:spPr>
          <a:xfrm>
            <a:off x="429768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6" name="número"/>
          <p:cNvSpPr/>
          <p:nvPr/>
        </p:nvSpPr>
        <p:spPr>
          <a:xfrm>
            <a:off x="452628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y preguntas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entre la parte preparada y el turno de preguntas.</a:t>
            </a:r>
            <a:endParaRPr lang="en-US" sz="1600" dirty="0"/>
          </a:p>
        </p:txBody>
      </p:sp>
      <p:sp>
        <p:nvSpPr>
          <p:cNvPr id="30" name="tarjeta Índice de paridad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31" name="número"/>
          <p:cNvSpPr/>
          <p:nvPr/>
        </p:nvSpPr>
        <p:spPr>
          <a:xfrm>
            <a:off x="827532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53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7782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paridad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obtenido ÷ % de personas. 1 = proporcional; &gt; 1, sobrerrepresentación.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Datos: ruedas de prensa de La Moncloa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395021"/>
            <a:ext cx="764438" cy="7644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oficial y página de cada rueda de prensa en lamoncloa.gob.es.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página tomamos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interviene, desde qué segundo y su cargo oficial («Ministra de…», «Ministro de…»).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13/10/2026 (40,6 min, 2 mujeres y 1 hombre) y 27/10/2026 (20,9 min, 3 ministras).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puede analizar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rueda de prensa del índice, o un rango de fechas, sin intervención.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6459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ruedas de prensa analizadas de principio a fin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3566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min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emisión útil procesados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Aproximación: del vídeo a métricas explicables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55539"/>
            <a:ext cx="764438" cy="643402"/>
          </a:xfrm>
          <a:prstGeom prst="rect">
            <a:avLst/>
          </a:prstGeom>
        </p:spPr>
      </p:pic>
      <p:sp>
        <p:nvSpPr>
          <p:cNvPr id="5" name="tarjeta Planos"/>
          <p:cNvSpPr/>
          <p:nvPr/>
        </p:nvSpPr>
        <p:spPr>
          <a:xfrm>
            <a:off x="54864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PySceneDetect</a:t>
            </a:r>
            <a:endParaRPr lang="en-US" sz="1300" dirty="0"/>
          </a:p>
        </p:txBody>
      </p:sp>
      <p:sp>
        <p:nvSpPr>
          <p:cNvPr id="8" name="flecha"/>
          <p:cNvSpPr/>
          <p:nvPr/>
        </p:nvSpPr>
        <p:spPr>
          <a:xfrm>
            <a:off x="2176272" y="2743200"/>
            <a:ext cx="27432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arjeta Personas"/>
          <p:cNvSpPr/>
          <p:nvPr/>
        </p:nvSpPr>
        <p:spPr>
          <a:xfrm>
            <a:off x="246888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+ ByteTrack</a:t>
            </a:r>
            <a:endParaRPr lang="en-US" sz="1300" dirty="0"/>
          </a:p>
        </p:txBody>
      </p:sp>
      <p:sp>
        <p:nvSpPr>
          <p:cNvPr id="12" name="flecha"/>
          <p:cNvSpPr/>
          <p:nvPr/>
        </p:nvSpPr>
        <p:spPr>
          <a:xfrm>
            <a:off x="4096512" y="2743200"/>
            <a:ext cx="27432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3" name="tarjeta Rótulos"/>
          <p:cNvSpPr/>
          <p:nvPr/>
        </p:nvSpPr>
        <p:spPr>
          <a:xfrm>
            <a:off x="438912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300" dirty="0"/>
          </a:p>
        </p:txBody>
      </p:sp>
      <p:sp>
        <p:nvSpPr>
          <p:cNvPr id="16" name="flecha"/>
          <p:cNvSpPr/>
          <p:nvPr/>
        </p:nvSpPr>
        <p:spPr>
          <a:xfrm>
            <a:off x="6016752" y="2743200"/>
            <a:ext cx="27432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7" name="tarjeta Voz"/>
          <p:cNvSpPr/>
          <p:nvPr/>
        </p:nvSpPr>
        <p:spPr>
          <a:xfrm>
            <a:off x="630936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300" dirty="0"/>
          </a:p>
        </p:txBody>
      </p:sp>
      <p:sp>
        <p:nvSpPr>
          <p:cNvPr id="20" name="flecha"/>
          <p:cNvSpPr/>
          <p:nvPr/>
        </p:nvSpPr>
        <p:spPr>
          <a:xfrm>
            <a:off x="7936992" y="2743200"/>
            <a:ext cx="27432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1" name="tarjeta Quién es quién"/>
          <p:cNvSpPr/>
          <p:nvPr/>
        </p:nvSpPr>
        <p:spPr>
          <a:xfrm>
            <a:off x="822960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quién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Moncloa + aspecto</a:t>
            </a:r>
            <a:endParaRPr lang="en-US" sz="1300" dirty="0"/>
          </a:p>
        </p:txBody>
      </p:sp>
      <p:sp>
        <p:nvSpPr>
          <p:cNvPr id="24" name="flecha"/>
          <p:cNvSpPr/>
          <p:nvPr/>
        </p:nvSpPr>
        <p:spPr>
          <a:xfrm>
            <a:off x="9857232" y="2743200"/>
            <a:ext cx="274320" cy="292608"/>
          </a:xfrm>
          <a:prstGeom prst="rightArrow">
            <a:avLst/>
          </a:prstGeom>
          <a:solidFill>
            <a:srgbClr val="E3D9F5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5" name="tarjeta Métricas"/>
          <p:cNvSpPr/>
          <p:nvPr/>
        </p:nvSpPr>
        <p:spPr>
          <a:xfrm>
            <a:off x="10149840" y="201168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F3EEFC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37844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378440" y="2670048"/>
            <a:ext cx="1143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informe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plano se analiza por separado: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se reinicia en cada corte para que una identidad nunca salte de una toma a otra.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la huella del vídeo, del código y de los modelos; los resultados se pueden rehacer idénticos.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Visión: planos, personas y rótulos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48635"/>
            <a:ext cx="764438" cy="657209"/>
          </a:xfrm>
          <a:prstGeom prst="rect">
            <a:avLst/>
          </a:prstGeom>
        </p:spPr>
      </p:pic>
      <p:sp>
        <p:nvSpPr>
          <p:cNvPr id="5" name="tarjeta Cortes de plano y seguimiento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 plano y seguimiento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67128"/>
            <a:ext cx="493776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Detecta cortes y fundidos a negro; descarta flashes y rótulos animados.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Detecta personas con YOLO11m y las sigue con ByteTrack dentro de cada plano.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 cada plano: primer plano, plano medio (sala), plano general.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Ignora reflejos y detecciones diminutas (&lt; 3 % de la imagen).</a:t>
            </a:r>
            <a:endParaRPr lang="en-US" sz="1800" dirty="0"/>
          </a:p>
        </p:txBody>
      </p:sp>
      <p:sp>
        <p:nvSpPr>
          <p:cNvPr id="8" name="tarjeta Motor de visión fiable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visión fiable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167128"/>
            <a:ext cx="493776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 los rótulos en pantalla con EasyOCR.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Comprueba los tiempos reales de cada fotograma con ffprobe y normaliza los vídeos con tiempos desordenados.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 el progreso en SQLite: si se corta, continúa donde iba.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 con GPU o, más despacio, en un portátil.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Voz: cada palabra, atribuida a quien está en pantalla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38653"/>
            <a:ext cx="764438" cy="6771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faster-whisper y marcas de tiempo por palabra.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Atribución: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 se asigna a la persona del primer plano en ese instante.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puede atribuir se declara: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durante planos de la sala = «sala»; durante planos generales = «sin atribuir».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645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12,3 %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voz sin atribuir el 13/10 (con turno de preguntas)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5661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8,0 %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480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voz sin atribuir el 27/10 (solo exposiciones)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Quién es quién, sin revisión manual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23545"/>
            <a:ext cx="764438" cy="707391"/>
          </a:xfrm>
          <a:prstGeom prst="rect">
            <a:avLst/>
          </a:prstGeom>
        </p:spPr>
      </p:pic>
      <p:sp>
        <p:nvSpPr>
          <p:cNvPr id="5" name="tarjeta 1 · La página de La Moncloa"/>
          <p:cNvSpPr/>
          <p:nvPr/>
        </p:nvSpPr>
        <p:spPr>
          <a:xfrm>
            <a:off x="548640" y="1508760"/>
            <a:ext cx="3566160" cy="2194560"/>
          </a:xfrm>
          <a:prstGeom prst="roundRect">
            <a:avLst>
              <a:gd name="adj" fmla="val 5833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 página de La Moncloa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67128"/>
            <a:ext cx="31089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cargo y segundo en que empieza cada intervención.</a:t>
            </a:r>
            <a:endParaRPr lang="en-US" sz="1500" dirty="0"/>
          </a:p>
        </p:txBody>
      </p:sp>
      <p:sp>
        <p:nvSpPr>
          <p:cNvPr id="8" name="tarjeta 2 · Línea de tiempo"/>
          <p:cNvSpPr/>
          <p:nvPr/>
        </p:nvSpPr>
        <p:spPr>
          <a:xfrm>
            <a:off x="4343400" y="1508760"/>
            <a:ext cx="3566160" cy="2194560"/>
          </a:xfrm>
          <a:prstGeom prst="roundRect">
            <a:avLst>
              <a:gd name="adj" fmla="val 5833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Línea de tiempo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167128"/>
            <a:ext cx="31089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primer plano se asigna a quien tiene la palabra en ese tramo.</a:t>
            </a:r>
            <a:endParaRPr lang="en-US" sz="1500" dirty="0"/>
          </a:p>
        </p:txBody>
      </p:sp>
      <p:sp>
        <p:nvSpPr>
          <p:cNvPr id="11" name="tarjeta 3 · Parecido en el vídeo"/>
          <p:cNvSpPr/>
          <p:nvPr/>
        </p:nvSpPr>
        <p:spPr>
          <a:xfrm>
            <a:off x="8138160" y="1508760"/>
            <a:ext cx="3474720" cy="2194560"/>
          </a:xfrm>
          <a:prstGeom prst="roundRect">
            <a:avLst>
              <a:gd name="adj" fmla="val 5833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Parecido en el vídeo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2167128"/>
            <a:ext cx="30175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sin marca: a la persona de aspecto más parecido en el mismo vídeo.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frente a la revisión hecha a mano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planos correctos (13/10)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planos correctos (27/10)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5257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recuperados solo por parecido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13/10: más protagonismo que su número</a:t>
            </a:r>
            <a:endParaRPr lang="en-US" sz="3200" dirty="0"/>
          </a:p>
        </p:txBody>
      </p:sp>
      <p:graphicFrame>
        <p:nvGraphicFramePr>
          <p:cNvPr id="3" name="gráfico 13/1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de pantalla de las mujeres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de voz de las mujeres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937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 Saiz abre y cierra; Sira Rego es quien más habla (33 % de la voz).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27/10: tres ministras, la voz no se reparte por igual</a:t>
            </a:r>
            <a:endParaRPr lang="en-US" sz="3200" dirty="0"/>
          </a:p>
        </p:txBody>
      </p:sp>
      <p:graphicFrame>
        <p:nvGraphicFramePr>
          <p:cNvPr id="3" name="gráfico 27/1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Paridad = 1 por definición"/>
          <p:cNvSpPr/>
          <p:nvPr/>
        </p:nvSpPr>
        <p:spPr>
          <a:xfrm>
            <a:off x="7955280" y="150876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= 1 por definición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167128"/>
            <a:ext cx="32004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comparecen mujeres, la comparación útil es entre personas.</a:t>
            </a:r>
            <a:endParaRPr lang="en-US" sz="1400" dirty="0"/>
          </a:p>
        </p:txBody>
      </p:sp>
      <p:sp>
        <p:nvSpPr>
          <p:cNvPr id="7" name="tarjeta Sin turno de preguntas"/>
          <p:cNvSpPr/>
          <p:nvPr/>
        </p:nvSpPr>
        <p:spPr>
          <a:xfrm>
            <a:off x="7955280" y="384048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turno de preguntas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498848"/>
            <a:ext cx="32004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vídeo publicado por La Moncloa termina en las exposiciones.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Demo: resultados interactivos para cualquier persona</a:t>
            </a:r>
            <a:endParaRPr lang="en-US" sz="3200" dirty="0"/>
          </a:p>
        </p:txBody>
      </p:sp>
      <p:pic>
        <p:nvPicPr>
          <p:cNvPr id="3" name="vídeo dem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371600"/>
            <a:ext cx="7863840" cy="44234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463040"/>
            <a:ext cx="2834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un enlace de La Moncloa.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pantalla, voz, paridad y quién abre y cierra.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minuto a minuto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flujo del protagonismo.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buscable y datos descargables.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ruedas de prensa.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el vídeo para reproducir la demo (46 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Demo: pegar un enlace y el sistema hace el resto</a:t>
            </a:r>
            <a:endParaRPr lang="en-US" sz="3200" dirty="0"/>
          </a:p>
        </p:txBody>
      </p:sp>
      <p:pic>
        <p:nvPicPr>
          <p:cNvPr id="3" name="analisis.png" descr="Captura de la pestaña Análisis de ví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446"/>
            <a:ext cx="6035040" cy="4717747"/>
          </a:xfrm>
          <a:prstGeom prst="rect">
            <a:avLst/>
          </a:prstGeom>
        </p:spPr>
      </p:pic>
      <p:sp>
        <p:nvSpPr>
          <p:cNvPr id="4" name="tarjeta Pegar el enlace de la rueda de prensa (o pedir todas las recientes)"/>
          <p:cNvSpPr/>
          <p:nvPr/>
        </p:nvSpPr>
        <p:spPr>
          <a:xfrm>
            <a:off x="6949440" y="1371600"/>
            <a:ext cx="4663440" cy="1024128"/>
          </a:xfrm>
          <a:prstGeom prst="roundRect">
            <a:avLst>
              <a:gd name="adj" fmla="val 125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7178040" y="15727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780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536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el enlace de la rueda de prensa (o pedir todas las recientes)</a:t>
            </a:r>
            <a:endParaRPr lang="en-US" sz="1400" dirty="0"/>
          </a:p>
        </p:txBody>
      </p:sp>
      <p:sp>
        <p:nvSpPr>
          <p:cNvPr id="8" name="tarjeta Descarga verificada del vídeo, trozo a trozo"/>
          <p:cNvSpPr/>
          <p:nvPr/>
        </p:nvSpPr>
        <p:spPr>
          <a:xfrm>
            <a:off x="6949440" y="2578608"/>
            <a:ext cx="4663440" cy="1024128"/>
          </a:xfrm>
          <a:prstGeom prst="roundRect">
            <a:avLst>
              <a:gd name="adj" fmla="val 125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7178040" y="2779776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verificada del vídeo, trozo a trozo</a:t>
            </a:r>
            <a:endParaRPr lang="en-US" sz="1400" dirty="0"/>
          </a:p>
        </p:txBody>
      </p:sp>
      <p:sp>
        <p:nvSpPr>
          <p:cNvPr id="12" name="tarjeta Cola de trabajos: visión, transcripción y métricas"/>
          <p:cNvSpPr/>
          <p:nvPr/>
        </p:nvSpPr>
        <p:spPr>
          <a:xfrm>
            <a:off x="6949440" y="3785616"/>
            <a:ext cx="4663440" cy="1024128"/>
          </a:xfrm>
          <a:prstGeom prst="roundRect">
            <a:avLst>
              <a:gd name="adj" fmla="val 125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3" name="número"/>
          <p:cNvSpPr/>
          <p:nvPr/>
        </p:nvSpPr>
        <p:spPr>
          <a:xfrm>
            <a:off x="7178040" y="398678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trabajos: visión, transcripción y métricas</a:t>
            </a:r>
            <a:endParaRPr lang="en-US" sz="1400" dirty="0"/>
          </a:p>
        </p:txBody>
      </p:sp>
      <p:sp>
        <p:nvSpPr>
          <p:cNvPr id="16" name="tarjeta Resultados en el panel y en la comparativa"/>
          <p:cNvSpPr/>
          <p:nvPr/>
        </p:nvSpPr>
        <p:spPr>
          <a:xfrm>
            <a:off x="6949440" y="4992624"/>
            <a:ext cx="4663440" cy="1024128"/>
          </a:xfrm>
          <a:prstGeom prst="roundRect">
            <a:avLst>
              <a:gd name="adj" fmla="val 1250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7" name="número"/>
          <p:cNvSpPr/>
          <p:nvPr/>
        </p:nvSpPr>
        <p:spPr>
          <a:xfrm>
            <a:off x="7178040" y="5193792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780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5157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el panel y en la comparativa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Perspectiva de género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07691"/>
            <a:ext cx="764438" cy="739098"/>
          </a:xfrm>
          <a:prstGeom prst="rect">
            <a:avLst/>
          </a:prstGeom>
        </p:spPr>
      </p:pic>
      <p:sp>
        <p:nvSpPr>
          <p:cNvPr id="5" name="tarjeta El género se documenta, no se adivina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género se documenta, no se adivina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5856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del cargo oficial publicado. Un prototipo con DeepFace se descartó por poco fiable y problemático.</a:t>
            </a:r>
            <a:endParaRPr lang="en-US" sz="1700" dirty="0"/>
          </a:p>
        </p:txBody>
      </p:sp>
      <p:sp>
        <p:nvSpPr>
          <p:cNvPr id="8" name="tarjeta Proporcionalidad, no solo porcentajes"/>
          <p:cNvSpPr/>
          <p:nvPr/>
        </p:nvSpPr>
        <p:spPr>
          <a:xfrm>
            <a:off x="6172200" y="16002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Proporcionalidad, no solo porcentajes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25856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paridad compara el protagonismo con cuántas mujeres comparecen.</a:t>
            </a:r>
            <a:endParaRPr lang="en-US" sz="1700" dirty="0"/>
          </a:p>
        </p:txBody>
      </p:sp>
      <p:sp>
        <p:nvSpPr>
          <p:cNvPr id="11" name="tarjeta Voz, no solo imagen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Voz, no solo imagen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49884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en pantalla no es lo mismo que tener la palabra: medimos ambas.</a:t>
            </a:r>
            <a:endParaRPr lang="en-US" sz="1700" dirty="0"/>
          </a:p>
        </p:txBody>
      </p:sp>
      <p:sp>
        <p:nvSpPr>
          <p:cNvPr id="14" name="tarjeta Categorías abiertas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40233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abiertas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49884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fuente no documenta la categoría, queda como «no documentado».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Marco ético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59551"/>
            <a:ext cx="764438" cy="635377"/>
          </a:xfrm>
          <a:prstGeom prst="rect">
            <a:avLst/>
          </a:prstGeom>
        </p:spPr>
      </p:pic>
      <p:sp>
        <p:nvSpPr>
          <p:cNvPr id="5" name="tarjeta Transparencia"/>
          <p:cNvSpPr/>
          <p:nvPr/>
        </p:nvSpPr>
        <p:spPr>
          <a:xfrm>
            <a:off x="54864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resultado enlaza su fuente y guarda la huella del vídeo y del código.</a:t>
            </a:r>
            <a:endParaRPr lang="en-US" sz="1600" dirty="0"/>
          </a:p>
        </p:txBody>
      </p:sp>
      <p:sp>
        <p:nvSpPr>
          <p:cNvPr id="10" name="tarjeta Explicabilidad"/>
          <p:cNvSpPr/>
          <p:nvPr/>
        </p:nvSpPr>
        <p:spPr>
          <a:xfrm>
            <a:off x="429768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452628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se puede rastrear hasta los planos y palabras que la producen.</a:t>
            </a:r>
            <a:endParaRPr lang="en-US" sz="1600" dirty="0"/>
          </a:p>
        </p:txBody>
      </p:sp>
      <p:sp>
        <p:nvSpPr>
          <p:cNvPr id="15" name="tarjeta Proporcionalidad"/>
          <p:cNvSpPr/>
          <p:nvPr/>
        </p:nvSpPr>
        <p:spPr>
          <a:xfrm>
            <a:off x="8046720" y="160020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6" name="número"/>
          <p:cNvSpPr/>
          <p:nvPr/>
        </p:nvSpPr>
        <p:spPr>
          <a:xfrm>
            <a:off x="8275320" y="180136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comparecencias públicas de cargos públicos en ejercicio.</a:t>
            </a:r>
            <a:endParaRPr lang="en-US" sz="1600" dirty="0"/>
          </a:p>
        </p:txBody>
      </p:sp>
      <p:sp>
        <p:nvSpPr>
          <p:cNvPr id="20" name="tarjeta Sin vigilancia"/>
          <p:cNvSpPr/>
          <p:nvPr/>
        </p:nvSpPr>
        <p:spPr>
          <a:xfrm>
            <a:off x="54864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77724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vigilancia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identifica a periodistas ni público; la sala es una categoría.</a:t>
            </a:r>
            <a:endParaRPr lang="en-US" sz="1600" dirty="0"/>
          </a:p>
        </p:txBody>
      </p:sp>
      <p:sp>
        <p:nvSpPr>
          <p:cNvPr id="25" name="tarjeta Supervisión humana"/>
          <p:cNvSpPr/>
          <p:nvPr/>
        </p:nvSpPr>
        <p:spPr>
          <a:xfrm>
            <a:off x="429768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26" name="número"/>
          <p:cNvSpPr/>
          <p:nvPr/>
        </p:nvSpPr>
        <p:spPr>
          <a:xfrm>
            <a:off x="452628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humana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la interfaz permite revisar y corregir cualquier plano.</a:t>
            </a:r>
            <a:endParaRPr lang="en-US" sz="1600" dirty="0"/>
          </a:p>
        </p:txBody>
      </p:sp>
      <p:sp>
        <p:nvSpPr>
          <p:cNvPr id="30" name="tarjeta Abierto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31" name="número"/>
          <p:cNvSpPr/>
          <p:nvPr/>
        </p:nvSpPr>
        <p:spPr>
          <a:xfrm>
            <a:off x="8275320" y="404164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53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7782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modelos y métricas abiertos y reproducibles (AGPL-3.0).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Cumplimiento normativo</a:t>
            </a:r>
            <a:endParaRPr lang="en-US" sz="3200" dirty="0"/>
          </a:p>
        </p:txBody>
      </p:sp>
      <p:graphicFrame>
        <p:nvGraphicFramePr>
          <p:cNvPr id="16" name="tabla norm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Marco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Cómo lo cumplimos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RGPD y LOPDGDD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Datos de cargos públicos en comparecencias públicas; sin categorías especiales; minimización (no se identifica al público). En producción: evaluación de impacto y consulta al DPD.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Reglamento de IA (UE) 2024/1689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No hay categorización biométrica: el género no se infiere de rasgos físicos. Sistema de riesgo limitado, documentado y transparente.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Reutilización de información pública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Material publicado por La Moncloa, citado siempre con su fuente; los vídeos no se redistribuyen.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Licencias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Proyecto AGPL-3.0 (exigida por Ultralytics YOLO); componentes de terceros y sus licencias en el README.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Plan de puesta en producción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9333" y="395021"/>
            <a:ext cx="761253" cy="764438"/>
          </a:xfrm>
          <a:prstGeom prst="rect">
            <a:avLst/>
          </a:prstGeom>
        </p:spPr>
      </p:pic>
      <p:sp>
        <p:nvSpPr>
          <p:cNvPr id="5" name="tarjeta Piloto"/>
          <p:cNvSpPr/>
          <p:nvPr/>
        </p:nvSpPr>
        <p:spPr>
          <a:xfrm>
            <a:off x="548640" y="15087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777240" y="170992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73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 AI Deploy con GPU a partir del Dockerfile del repositorio; análisis semanal automático de las ruedas nuevas.</a:t>
            </a:r>
            <a:endParaRPr lang="en-US" sz="1400" dirty="0"/>
          </a:p>
        </p:txBody>
      </p:sp>
      <p:sp>
        <p:nvSpPr>
          <p:cNvPr id="10" name="tarjeta Validación"/>
          <p:cNvSpPr/>
          <p:nvPr/>
        </p:nvSpPr>
        <p:spPr>
          <a:xfrm>
            <a:off x="4297680" y="15087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4526280" y="170992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673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manual de una muestra para medir el error de clasificación de planos y de atribución de voz.</a:t>
            </a:r>
            <a:endParaRPr lang="en-US" sz="1400" dirty="0"/>
          </a:p>
        </p:txBody>
      </p:sp>
      <p:sp>
        <p:nvSpPr>
          <p:cNvPr id="15" name="tarjeta Publicación"/>
          <p:cNvSpPr/>
          <p:nvPr/>
        </p:nvSpPr>
        <p:spPr>
          <a:xfrm>
            <a:off x="8046720" y="15087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6" name="número"/>
          <p:cNvSpPr/>
          <p:nvPr/>
        </p:nvSpPr>
        <p:spPr>
          <a:xfrm>
            <a:off x="8275320" y="1709928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1673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público y datos abiertos (CSV) con la serie histórica y la comparativa.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acuerdos necesarios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con La Moncloa / SEDIA para la descarga automatizada y periódica de vídeos.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impacto en protección de datos y aviso de transparencia público.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contacto para corregir errores de atribución.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Riesgos y mitigaciones</a:t>
            </a:r>
            <a:endParaRPr lang="en-US" sz="3200" dirty="0"/>
          </a:p>
        </p:txBody>
      </p:sp>
      <p:graphicFrame>
        <p:nvGraphicFramePr>
          <p:cNvPr id="18" name="tabla ries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Mitigación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Voz mal atribuida (habla alguien fuera de plano)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Se declara el % sin atribuir; hoja de ruta: diarización de hablantes.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La Moncloa cambia el formato de su web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Lectura robusta con reintentos; si falla una página, el lote sigue y se avisa.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Descargas incompletas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Descarga trozo a trozo con verificación de tamaño y reintentos.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Lectura errónea de las cifras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Paridad explicada en cada panel; avisos cuando solo hay un género.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Categoría binaria limitada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Solo lo que documenta la fuente; categoría «no documentado».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63F"/>
                          </a:solidFill>
                        </a:rPr>
                        <a:t>Coste de GPU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4D7A"/>
                          </a:solidFill>
                        </a:rPr>
                        <a:t>Cola de trabajos única y modo CPU para volúmenes pequeños.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Limitaciones y hoja de ruta</a:t>
            </a:r>
            <a:endParaRPr lang="en-US" sz="3200" dirty="0"/>
          </a:p>
        </p:txBody>
      </p:sp>
      <p:sp>
        <p:nvSpPr>
          <p:cNvPr id="3" name="círculo avatar"/>
          <p:cNvSpPr/>
          <p:nvPr/>
        </p:nvSpPr>
        <p:spPr>
          <a:xfrm>
            <a:off x="10607040" y="274320"/>
            <a:ext cx="1005840" cy="1005840"/>
          </a:xfrm>
          <a:prstGeom prst="ellipse">
            <a:avLst/>
          </a:prstGeom>
          <a:solidFill>
            <a:srgbClr val="F3EEFC"/>
          </a:solidFill>
          <a:ln w="12700">
            <a:solidFill>
              <a:srgbClr val="F3EEFC"/>
            </a:solidFill>
            <a:prstDash val="solid"/>
          </a:ln>
        </p:spPr>
      </p:sp>
      <p:pic>
        <p:nvPicPr>
          <p:cNvPr id="4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410586"/>
            <a:ext cx="764438" cy="733307"/>
          </a:xfrm>
          <a:prstGeom prst="rect">
            <a:avLst/>
          </a:prstGeom>
        </p:spPr>
      </p:pic>
      <p:sp>
        <p:nvSpPr>
          <p:cNvPr id="5" name="tarjeta Limitaciones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67128"/>
            <a:ext cx="493776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 ruedas de prensa: describen esas sesiones, no una tendencia.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vídeos de La Moncloa no incluyen el turno de preguntas.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atribución de voz asume que habla quien sale en pantalla.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Precisión aún no validada con una anotación manual amplia.</a:t>
            </a:r>
            <a:endParaRPr lang="en-US" sz="1800" dirty="0"/>
          </a:p>
        </p:txBody>
      </p:sp>
      <p:sp>
        <p:nvSpPr>
          <p:cNvPr id="8" name="tarjeta Hoja de ruta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3EEFC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167128"/>
            <a:ext cx="493776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Diarización de hablantes para el turno de preguntas.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con anotación manual y métricas de error.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Más fuentes: Congreso, Senado, RTVE.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de temas en la transcripción.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Ejecución semanal y panel público.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3D9F5"/>
                </a:solidFill>
              </a:rPr>
              <a:t>Medimos protagonismo, no solo presencia: pantalla, voz, turnos, apertura y cierre.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3D9F5"/>
                </a:solidFill>
              </a:rPr>
              <a:t>El sistema analiza solo cualquier rueda de prensa de La Moncloa, sin revisión manual.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3D9F5"/>
                </a:solidFill>
              </a:rPr>
              <a:t>Género documentado, nunca inferido; todo abierto y reproducible.</a:t>
            </a:r>
            <a:endParaRPr lang="en-US" sz="1800" dirty="0"/>
          </a:p>
        </p:txBody>
      </p:sp>
      <p:pic>
        <p:nvPicPr>
          <p:cNvPr id="4" name="grande_3.png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91408"/>
            <a:ext cx="3840480" cy="3766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163F"/>
                </a:solidFill>
              </a:rPr>
              <a:t>Equipo 5</a:t>
            </a:r>
            <a:endParaRPr lang="en-US" sz="3200" dirty="0"/>
          </a:p>
        </p:txBody>
      </p:sp>
      <p:sp>
        <p:nvSpPr>
          <p:cNvPr id="3" name="tarjeta Nouhaila"/>
          <p:cNvSpPr/>
          <p:nvPr/>
        </p:nvSpPr>
        <p:spPr>
          <a:xfrm>
            <a:off x="548640" y="1463040"/>
            <a:ext cx="3474720" cy="2834640"/>
          </a:xfrm>
          <a:prstGeom prst="roundRect">
            <a:avLst>
              <a:gd name="adj" fmla="val 4516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Nouhaila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21408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 plano, detección y seguimiento de personas, pruebas de modelos</a:t>
            </a:r>
            <a:endParaRPr lang="en-US" sz="1400" dirty="0"/>
          </a:p>
        </p:txBody>
      </p:sp>
      <p:sp>
        <p:nvSpPr>
          <p:cNvPr id="6" name="círculo avatar"/>
          <p:cNvSpPr/>
          <p:nvPr/>
        </p:nvSpPr>
        <p:spPr>
          <a:xfrm>
            <a:off x="2926080" y="31089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avatar" descr="Avatar ilust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299" y="3229661"/>
            <a:ext cx="557403" cy="764438"/>
          </a:xfrm>
          <a:prstGeom prst="rect">
            <a:avLst/>
          </a:prstGeom>
        </p:spPr>
      </p:pic>
      <p:sp>
        <p:nvSpPr>
          <p:cNvPr id="8" name="tarjeta Paula"/>
          <p:cNvSpPr/>
          <p:nvPr/>
        </p:nvSpPr>
        <p:spPr>
          <a:xfrm>
            <a:off x="4297680" y="1463040"/>
            <a:ext cx="3474720" cy="2834640"/>
          </a:xfrm>
          <a:prstGeom prst="roundRect">
            <a:avLst>
              <a:gd name="adj" fmla="val 4516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121408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visión integrado, lectura de rótulos y pruebas de imagen</a:t>
            </a:r>
            <a:endParaRPr lang="en-US" sz="1400" dirty="0"/>
          </a:p>
        </p:txBody>
      </p:sp>
      <p:sp>
        <p:nvSpPr>
          <p:cNvPr id="11" name="círculo avatar"/>
          <p:cNvSpPr/>
          <p:nvPr/>
        </p:nvSpPr>
        <p:spPr>
          <a:xfrm>
            <a:off x="6675120" y="31089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avatar" descr="Avatar ilustr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3263105"/>
            <a:ext cx="764438" cy="697550"/>
          </a:xfrm>
          <a:prstGeom prst="rect">
            <a:avLst/>
          </a:prstGeom>
        </p:spPr>
      </p:pic>
      <p:sp>
        <p:nvSpPr>
          <p:cNvPr id="13" name="tarjeta Firdaous"/>
          <p:cNvSpPr/>
          <p:nvPr/>
        </p:nvSpPr>
        <p:spPr>
          <a:xfrm>
            <a:off x="8046720" y="1463040"/>
            <a:ext cx="3474720" cy="2834640"/>
          </a:xfrm>
          <a:prstGeom prst="roundRect">
            <a:avLst>
              <a:gd name="adj" fmla="val 4516"/>
            </a:avLst>
          </a:prstGeom>
          <a:solidFill>
            <a:srgbClr val="F8F5FE"/>
          </a:solidFill>
          <a:ln w="12700">
            <a:solidFill>
              <a:srgbClr val="E3D9F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7532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Firdaous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2121408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transcripción y voz, interfaz y sistema automático</a:t>
            </a:r>
            <a:endParaRPr lang="en-US" sz="1400" dirty="0"/>
          </a:p>
        </p:txBody>
      </p:sp>
      <p:sp>
        <p:nvSpPr>
          <p:cNvPr id="16" name="círculo avatar"/>
          <p:cNvSpPr/>
          <p:nvPr/>
        </p:nvSpPr>
        <p:spPr>
          <a:xfrm>
            <a:off x="10424160" y="31089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avatar" descr="Avatar ilustr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119" y="3229661"/>
            <a:ext cx="531922" cy="7644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«Mujeres por la IA Abierta» · SEDIA · Colaboran UPC-IDEAI, COEINF (donesCOEINF) y OVHcloud</a:t>
            </a:r>
            <a:endParaRPr lang="en-US" sz="1200" dirty="0"/>
          </a:p>
        </p:txBody>
      </p:sp>
      <p:pic>
        <p:nvPicPr>
          <p:cNvPr id="19" name="logo ministerio_comunidad.jpg" descr="Logo de entid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8" y="5206332"/>
            <a:ext cx="3291840" cy="743015"/>
          </a:xfrm>
          <a:prstGeom prst="rect">
            <a:avLst/>
          </a:prstGeom>
        </p:spPr>
      </p:pic>
      <p:pic>
        <p:nvPicPr>
          <p:cNvPr id="20" name="logo prtr.jpg" descr="Logo de entid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928" y="5088897"/>
            <a:ext cx="1737360" cy="977885"/>
          </a:xfrm>
          <a:prstGeom prst="rect">
            <a:avLst/>
          </a:prstGeom>
        </p:spPr>
      </p:pic>
      <p:pic>
        <p:nvPicPr>
          <p:cNvPr id="21" name="logo nextgeneu.jpg" descr="Logo de entid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5213386"/>
            <a:ext cx="2743200" cy="728907"/>
          </a:xfrm>
          <a:prstGeom prst="rect">
            <a:avLst/>
          </a:prstGeom>
        </p:spPr>
      </p:pic>
      <p:pic>
        <p:nvPicPr>
          <p:cNvPr id="22" name="logo espana_digital.jpg" descr="Logo de entid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2008" y="5088897"/>
            <a:ext cx="1737360" cy="9778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rls in the Loop">
  <a:themeElements>
    <a:clrScheme name="Girls in the Loop">
      <a:dk1>
        <a:srgbClr val="24163F"/>
      </a:dk1>
      <a:lt1>
        <a:srgbClr val="FFFFFF"/>
      </a:lt1>
      <a:dk2>
        <a:srgbClr val="4C1D95"/>
      </a:dk2>
      <a:lt2>
        <a:srgbClr val="F3EEFC"/>
      </a:lt2>
      <a:accent1>
        <a:srgbClr val="6D28D9"/>
      </a:accent1>
      <a:accent2>
        <a:srgbClr val="E0457B"/>
      </a:accent2>
      <a:accent3>
        <a:srgbClr val="0E8F86"/>
      </a:accent3>
      <a:accent4>
        <a:srgbClr val="C27C0E"/>
      </a:accent4>
      <a:accent5>
        <a:srgbClr val="3B6FE0"/>
      </a:accent5>
      <a:accent6>
        <a:srgbClr val="A3367A"/>
      </a:accent6>
      <a:hlink>
        <a:srgbClr val="6D28D9"/>
      </a:hlink>
      <a:folHlink>
        <a:srgbClr val="A3367A"/>
      </a:folHlink>
    </a:clrScheme>
    <a:fontScheme name="Girls in the Loo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Reto Mujeres por la IA Abierta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Girls in the Loop · Protagonismo por género en ruedas de prensa</dc:title>
  <dc:subject>PptxGenJS Presentation</dc:subject>
  <dc:creator>Equipo 5: Nouhaila, Paula y Firdaous</dc:creator>
  <cp:lastModifiedBy>Equipo 5: Nouhaila, Paula y Firdaous</cp:lastModifiedBy>
  <cp:revision>1</cp:revision>
  <dcterms:created xsi:type="dcterms:W3CDTF">2026-10-29T20:36:33Z</dcterms:created>
  <dcterms:modified xsi:type="dcterms:W3CDTF">2026-10-29T20:36:33Z</dcterms:modified>
</cp:coreProperties>
</file>